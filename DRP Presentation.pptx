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0c97b8a1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0c97b8a1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0c97b8a1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0c97b8a1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0c97b8a1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0c97b8a1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0c97b8a1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0c97b8a1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0c97b8a1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0c97b8a1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0c97b8a1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0c97b8a1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0c97b8a1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0c97b8a1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1d32ba4f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1d32ba4f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1d32ba4f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1d32ba4f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1d32ba4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1d32ba4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1d32ba4f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1d32ba4f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1d32ba4f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1d32ba4f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1d32ba4f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1d32ba4f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1d32ba4f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1d32ba4f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0c97b8a1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0c97b8a1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0c97b8a1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0c97b8a1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4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45.png"/><Relationship Id="rId6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Itô Calculus Applied to SDEs in the Black-Scholes Model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Keshav Ramesh | DRP Spring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Stochastic Models for Asset Prices?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350175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Financial markets are inherently uncertain and fluctuate continuously.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Prices respond to unpredictable news, sentiment, and events.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model this, we use stochastic processes — especially Brownian motion — to capture randomness in continuous time.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Brownian Motion: The Core Model of Randomness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 	    be standard Brownian motion. It satisfies: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Independent, normally distributed increments: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Continuous but nowhere differentiable paths.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t/>
            </a:r>
            <a:endParaRPr/>
          </a:p>
        </p:txBody>
      </p:sp>
      <p:pic>
        <p:nvPicPr>
          <p:cNvPr id="100" name="Google Shape;100;p15" title="Screenshot 2025-04-30 at 8.04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075" y="1380000"/>
            <a:ext cx="259075" cy="3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title="Screenshot 2025-05-01 at 10.44.5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075" y="1729625"/>
            <a:ext cx="857405" cy="40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title="Screenshot 2025-05-01 at 10.46.1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6125" y="2491050"/>
            <a:ext cx="2031879" cy="40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title="Screenshot 2025-05-01 at 10.46.5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2925" y="4028800"/>
            <a:ext cx="2031875" cy="34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Classical Calculus Fails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Brownian motion has infinite total variation and is nowhere differentiable.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Riemann–Stieltjes integrals require bounded variation → fail for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/>
              <a:t>d</a:t>
            </a:r>
            <a:r>
              <a:rPr lang="en"/>
              <a:t>oesn’t converge like a Riemann sum.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need a new definition of integration: </a:t>
            </a:r>
            <a:r>
              <a:rPr b="1" lang="en"/>
              <a:t>the Itô integral</a:t>
            </a:r>
            <a:r>
              <a:rPr lang="en"/>
              <a:t>.</a:t>
            </a:r>
            <a:endParaRPr/>
          </a:p>
        </p:txBody>
      </p:sp>
      <p:pic>
        <p:nvPicPr>
          <p:cNvPr id="110" name="Google Shape;110;p16" title="Screenshot 2025-05-01 at 10.50.05 AM.png"/>
          <p:cNvPicPr preferRelativeResize="0"/>
          <p:nvPr/>
        </p:nvPicPr>
        <p:blipFill rotWithShape="1">
          <a:blip r:embed="rId3">
            <a:alphaModFix/>
          </a:blip>
          <a:srcRect b="-5680" l="25430" r="-6343" t="5680"/>
          <a:stretch/>
        </p:blipFill>
        <p:spPr>
          <a:xfrm>
            <a:off x="5918425" y="2143600"/>
            <a:ext cx="316825" cy="3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title="Screenshot 2025-05-01 at 10.50.3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5725" y="3119950"/>
            <a:ext cx="42672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Itô Integral: A New Kind of Integration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adapted process             , define: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ith             , non-anticipating.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Properties: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Linearity: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Martingale: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Isometry:</a:t>
            </a:r>
            <a:endParaRPr b="1"/>
          </a:p>
        </p:txBody>
      </p:sp>
      <p:pic>
        <p:nvPicPr>
          <p:cNvPr id="118" name="Google Shape;118;p17" title="Screenshot 2025-05-01 at 10.51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0" y="1337300"/>
            <a:ext cx="3527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Screenshot 2025-05-01 at 10.53.3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2088" y="1718300"/>
            <a:ext cx="4857750" cy="6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Screenshot 2025-05-01 at 10.51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025" y="2422125"/>
            <a:ext cx="3527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title="Screenshot 2025-05-01 at 10.55.0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6788" y="3067850"/>
            <a:ext cx="3548350" cy="4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title="Screenshot 2025-05-01 at 10.55.11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6463" y="3697800"/>
            <a:ext cx="2748982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title="Screenshot 2025-05-01 at 10.56.12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9700" y="4422550"/>
            <a:ext cx="3002533" cy="6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Itô’s Formula (Basic Version)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                                and           standard Brownian motion: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s equivalent to the </a:t>
            </a:r>
            <a:r>
              <a:rPr lang="en"/>
              <a:t>stochastic</a:t>
            </a:r>
            <a:r>
              <a:rPr lang="en"/>
              <a:t> version of the Chain Rule.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captures both: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fluctuations via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Accumulated variance via  </a:t>
            </a:r>
            <a:endParaRPr/>
          </a:p>
        </p:txBody>
      </p:sp>
      <p:pic>
        <p:nvPicPr>
          <p:cNvPr id="130" name="Google Shape;130;p18" title="Screenshot 2025-05-01 at 10.57.33 AM.png"/>
          <p:cNvPicPr preferRelativeResize="0"/>
          <p:nvPr/>
        </p:nvPicPr>
        <p:blipFill rotWithShape="1">
          <a:blip r:embed="rId3">
            <a:alphaModFix/>
          </a:blip>
          <a:srcRect b="13545" l="6649" r="4807" t="10523"/>
          <a:stretch/>
        </p:blipFill>
        <p:spPr>
          <a:xfrm>
            <a:off x="1080375" y="1337300"/>
            <a:ext cx="992975" cy="3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Screenshot 2025-05-01 at 10.58.20 AM.png"/>
          <p:cNvPicPr preferRelativeResize="0"/>
          <p:nvPr/>
        </p:nvPicPr>
        <p:blipFill rotWithShape="1">
          <a:blip r:embed="rId4">
            <a:alphaModFix/>
          </a:blip>
          <a:srcRect b="0" l="14595" r="0" t="0"/>
          <a:stretch/>
        </p:blipFill>
        <p:spPr>
          <a:xfrm>
            <a:off x="2417876" y="1337300"/>
            <a:ext cx="303325" cy="3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Screenshot 2025-05-01 at 10.59.17 AM.png"/>
          <p:cNvPicPr preferRelativeResize="0"/>
          <p:nvPr/>
        </p:nvPicPr>
        <p:blipFill rotWithShape="1">
          <a:blip r:embed="rId5">
            <a:alphaModFix/>
          </a:blip>
          <a:srcRect b="16832" l="0" r="0" t="0"/>
          <a:stretch/>
        </p:blipFill>
        <p:spPr>
          <a:xfrm>
            <a:off x="2679875" y="1857975"/>
            <a:ext cx="3787825" cy="41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Screenshot 2025-05-01 at 11.00.11 AM.png"/>
          <p:cNvPicPr preferRelativeResize="0"/>
          <p:nvPr/>
        </p:nvPicPr>
        <p:blipFill rotWithShape="1">
          <a:blip r:embed="rId6">
            <a:alphaModFix/>
          </a:blip>
          <a:srcRect b="0" l="8424" r="9" t="0"/>
          <a:stretch/>
        </p:blipFill>
        <p:spPr>
          <a:xfrm>
            <a:off x="3031476" y="3577100"/>
            <a:ext cx="485125" cy="41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title="Screenshot 2025-05-01 at 10.58.20 AM.png"/>
          <p:cNvPicPr preferRelativeResize="0"/>
          <p:nvPr/>
        </p:nvPicPr>
        <p:blipFill rotWithShape="1">
          <a:blip r:embed="rId4">
            <a:alphaModFix/>
          </a:blip>
          <a:srcRect b="0" l="24642" r="-13476" t="0"/>
          <a:stretch/>
        </p:blipFill>
        <p:spPr>
          <a:xfrm>
            <a:off x="3201100" y="4361575"/>
            <a:ext cx="355150" cy="38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Itô’s Formula (General Form)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           be an Itô process: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for                                             , we have: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Substituting                , we have that:</a:t>
            </a:r>
            <a:endParaRPr/>
          </a:p>
        </p:txBody>
      </p:sp>
      <p:pic>
        <p:nvPicPr>
          <p:cNvPr id="141" name="Google Shape;141;p19" title="Screenshot 2025-05-01 at 11.02.58 AM.png"/>
          <p:cNvPicPr preferRelativeResize="0"/>
          <p:nvPr/>
        </p:nvPicPr>
        <p:blipFill rotWithShape="1">
          <a:blip r:embed="rId3">
            <a:alphaModFix/>
          </a:blip>
          <a:srcRect b="0" l="12587" r="0" t="0"/>
          <a:stretch/>
        </p:blipFill>
        <p:spPr>
          <a:xfrm>
            <a:off x="1096800" y="1375400"/>
            <a:ext cx="309225" cy="32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Screenshot 2025-05-01 at 11.03.3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525" y="1772850"/>
            <a:ext cx="2448945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 title="Screenshot 2025-05-01 at 11.03.45 AM.png"/>
          <p:cNvPicPr preferRelativeResize="0"/>
          <p:nvPr/>
        </p:nvPicPr>
        <p:blipFill rotWithShape="1">
          <a:blip r:embed="rId5">
            <a:alphaModFix/>
          </a:blip>
          <a:srcRect b="14148" l="3735" r="0" t="0"/>
          <a:stretch/>
        </p:blipFill>
        <p:spPr>
          <a:xfrm>
            <a:off x="1465375" y="2477975"/>
            <a:ext cx="1399250" cy="35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Screenshot 2025-05-01 at 11.04.37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8550" y="2988275"/>
            <a:ext cx="4666900" cy="49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title="Screenshot 2025-05-01 at 11.04.50 AM.png"/>
          <p:cNvPicPr preferRelativeResize="0"/>
          <p:nvPr/>
        </p:nvPicPr>
        <p:blipFill rotWithShape="1">
          <a:blip r:embed="rId7">
            <a:alphaModFix/>
          </a:blip>
          <a:srcRect b="0" l="2780" r="0" t="0"/>
          <a:stretch/>
        </p:blipFill>
        <p:spPr>
          <a:xfrm>
            <a:off x="2240349" y="4095425"/>
            <a:ext cx="4666907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title="Screenshot 2025-05-01 at 11.05.48 AM.png"/>
          <p:cNvPicPr preferRelativeResize="0"/>
          <p:nvPr/>
        </p:nvPicPr>
        <p:blipFill rotWithShape="1">
          <a:blip r:embed="rId8">
            <a:alphaModFix/>
          </a:blip>
          <a:srcRect b="0" l="13778" r="0" t="0"/>
          <a:stretch/>
        </p:blipFill>
        <p:spPr>
          <a:xfrm>
            <a:off x="1767600" y="3585525"/>
            <a:ext cx="430924" cy="4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Stochastic Differential Equations (SDEs)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stochastic differential equation models the evolution of a random process: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                  : drift term (represents deterministic trend)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                   </a:t>
            </a:r>
            <a:r>
              <a:rPr lang="en"/>
              <a:t>: </a:t>
            </a:r>
            <a:r>
              <a:rPr lang="en"/>
              <a:t>diffusion</a:t>
            </a:r>
            <a:r>
              <a:rPr lang="en"/>
              <a:t> term (represents random fluctuation)</a:t>
            </a:r>
            <a:endParaRPr/>
          </a:p>
        </p:txBody>
      </p:sp>
      <p:pic>
        <p:nvPicPr>
          <p:cNvPr id="153" name="Google Shape;153;p20" title="Screenshot 2025-05-01 at 11.07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313" y="1847850"/>
            <a:ext cx="40053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 title="Screenshot 2025-05-01 at 11.07.53 AM.png"/>
          <p:cNvPicPr preferRelativeResize="0"/>
          <p:nvPr/>
        </p:nvPicPr>
        <p:blipFill rotWithShape="1">
          <a:blip r:embed="rId4">
            <a:alphaModFix/>
          </a:blip>
          <a:srcRect b="9512" l="5422" r="6269" t="14930"/>
          <a:stretch/>
        </p:blipFill>
        <p:spPr>
          <a:xfrm>
            <a:off x="1182075" y="2897725"/>
            <a:ext cx="850575" cy="3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 title="Screenshot 2025-05-01 at 11.08.36 AM.png"/>
          <p:cNvPicPr preferRelativeResize="0"/>
          <p:nvPr/>
        </p:nvPicPr>
        <p:blipFill rotWithShape="1">
          <a:blip r:embed="rId5">
            <a:alphaModFix/>
          </a:blip>
          <a:srcRect b="8414" l="9340" r="4094" t="18736"/>
          <a:stretch/>
        </p:blipFill>
        <p:spPr>
          <a:xfrm>
            <a:off x="1204125" y="3642175"/>
            <a:ext cx="850575" cy="30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Brownian Motion (GBM)</a:t>
            </a:r>
            <a:endParaRPr/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729450" y="1337300"/>
            <a:ext cx="7688700" cy="3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Brownian motion is the s</a:t>
            </a:r>
            <a:r>
              <a:rPr lang="en"/>
              <a:t>tandard model for stock prices: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 using Itô’s formula: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Properties: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                  </a:t>
            </a:r>
            <a:r>
              <a:rPr lang="en"/>
              <a:t>f</a:t>
            </a:r>
            <a:r>
              <a:rPr lang="en"/>
              <a:t>or all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Log-normal distribution</a:t>
            </a:r>
            <a:endParaRPr/>
          </a:p>
        </p:txBody>
      </p:sp>
      <p:pic>
        <p:nvPicPr>
          <p:cNvPr id="162" name="Google Shape;162;p21" title="Screenshot 2025-05-01 at 11.11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875" y="1762600"/>
            <a:ext cx="2952232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Screenshot 2025-05-01 at 11.11.2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6600" y="2891125"/>
            <a:ext cx="4170776" cy="65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Screenshot 2025-05-01 at 11.11.51 AM.png"/>
          <p:cNvPicPr preferRelativeResize="0"/>
          <p:nvPr/>
        </p:nvPicPr>
        <p:blipFill rotWithShape="1">
          <a:blip r:embed="rId5">
            <a:alphaModFix/>
          </a:blip>
          <a:srcRect b="0" l="10578" r="0" t="0"/>
          <a:stretch/>
        </p:blipFill>
        <p:spPr>
          <a:xfrm>
            <a:off x="1281750" y="3868325"/>
            <a:ext cx="682850" cy="3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 title="Screenshot 2025-05-01 at 11.12.20 AM.png"/>
          <p:cNvPicPr preferRelativeResize="0"/>
          <p:nvPr/>
        </p:nvPicPr>
        <p:blipFill rotWithShape="1">
          <a:blip r:embed="rId6">
            <a:alphaModFix/>
          </a:blip>
          <a:srcRect b="0" l="20584" r="0" t="0"/>
          <a:stretch/>
        </p:blipFill>
        <p:spPr>
          <a:xfrm>
            <a:off x="2510650" y="3909488"/>
            <a:ext cx="232600" cy="3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Price a Call Option</a:t>
            </a:r>
            <a:endParaRPr/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European call option gives the right to buy a stock at strike price          at time        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objective is to find the fair price                          at current time                       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Need to use the SDE for the stock, Itô’s formula, and the no-arbitrage argument to derive a PDE.</a:t>
            </a:r>
            <a:endParaRPr/>
          </a:p>
        </p:txBody>
      </p:sp>
      <p:pic>
        <p:nvPicPr>
          <p:cNvPr id="172" name="Google Shape;172;p22" title="Screenshot 2025-05-01 at 11.14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125" y="1314900"/>
            <a:ext cx="293925" cy="3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 title="Screenshot 2025-05-01 at 11.15.56 AM.png"/>
          <p:cNvPicPr preferRelativeResize="0"/>
          <p:nvPr/>
        </p:nvPicPr>
        <p:blipFill rotWithShape="1">
          <a:blip r:embed="rId4">
            <a:alphaModFix/>
          </a:blip>
          <a:srcRect b="9428" l="18991" r="8329" t="0"/>
          <a:stretch/>
        </p:blipFill>
        <p:spPr>
          <a:xfrm>
            <a:off x="6367075" y="1314900"/>
            <a:ext cx="252475" cy="3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 title="Screenshot 2025-05-01 at 11.17.09 AM.png"/>
          <p:cNvPicPr preferRelativeResize="0"/>
          <p:nvPr/>
        </p:nvPicPr>
        <p:blipFill rotWithShape="1">
          <a:blip r:embed="rId5">
            <a:alphaModFix/>
          </a:blip>
          <a:srcRect b="0" l="3920" r="0" t="0"/>
          <a:stretch/>
        </p:blipFill>
        <p:spPr>
          <a:xfrm>
            <a:off x="2965500" y="1937513"/>
            <a:ext cx="3216598" cy="6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 title="Screenshot 2025-05-01 at 11.17.37 AM.png"/>
          <p:cNvPicPr preferRelativeResize="0"/>
          <p:nvPr/>
        </p:nvPicPr>
        <p:blipFill rotWithShape="1">
          <a:blip r:embed="rId6">
            <a:alphaModFix/>
          </a:blip>
          <a:srcRect b="0" l="6434" r="4684" t="0"/>
          <a:stretch/>
        </p:blipFill>
        <p:spPr>
          <a:xfrm>
            <a:off x="3395450" y="2838775"/>
            <a:ext cx="773375" cy="4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creenshot 2025-05-01 at 11.18.10 AM.png"/>
          <p:cNvPicPr preferRelativeResize="0"/>
          <p:nvPr/>
        </p:nvPicPr>
        <p:blipFill rotWithShape="1">
          <a:blip r:embed="rId7">
            <a:alphaModFix/>
          </a:blip>
          <a:srcRect b="0" l="7097" r="0" t="0"/>
          <a:stretch/>
        </p:blipFill>
        <p:spPr>
          <a:xfrm>
            <a:off x="5304725" y="2811100"/>
            <a:ext cx="700626" cy="4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Replication: The Pricing Principle</a:t>
            </a:r>
            <a:endParaRPr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self-financing portfolio (where no money is added or withdrawn before maturity), as follows: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: stock (risky asset)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                 : bond (risk-free asset)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No-arbitrage principle:</a:t>
            </a:r>
            <a:r>
              <a:rPr lang="en"/>
              <a:t> if the portfolio perfectly replicates the option payoff, then: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              option price → same value</a:t>
            </a:r>
            <a:endParaRPr/>
          </a:p>
        </p:txBody>
      </p:sp>
      <p:pic>
        <p:nvPicPr>
          <p:cNvPr id="183" name="Google Shape;183;p23" title="Screenshot 2025-05-01 at 11.21.46 AM.png"/>
          <p:cNvPicPr preferRelativeResize="0"/>
          <p:nvPr/>
        </p:nvPicPr>
        <p:blipFill rotWithShape="1">
          <a:blip r:embed="rId3">
            <a:alphaModFix/>
          </a:blip>
          <a:srcRect b="0" l="7861" r="9213" t="0"/>
          <a:stretch/>
        </p:blipFill>
        <p:spPr>
          <a:xfrm>
            <a:off x="1147100" y="4372900"/>
            <a:ext cx="522325" cy="3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 title="Screenshot 2025-05-01 at 11.22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500" y="1876025"/>
            <a:ext cx="2089006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 title="Screenshot 2025-05-01 at 11.23.17 AM.png"/>
          <p:cNvPicPr preferRelativeResize="0"/>
          <p:nvPr/>
        </p:nvPicPr>
        <p:blipFill rotWithShape="1">
          <a:blip r:embed="rId5">
            <a:alphaModFix/>
          </a:blip>
          <a:srcRect b="0" l="14221" r="0" t="0"/>
          <a:stretch/>
        </p:blipFill>
        <p:spPr>
          <a:xfrm>
            <a:off x="1147100" y="2479575"/>
            <a:ext cx="308725" cy="3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Screenshot 2025-05-01 at 11.23.42 AM.png"/>
          <p:cNvPicPr preferRelativeResize="0"/>
          <p:nvPr/>
        </p:nvPicPr>
        <p:blipFill rotWithShape="1">
          <a:blip r:embed="rId6">
            <a:alphaModFix/>
          </a:blip>
          <a:srcRect b="6349" l="5775" r="0" t="0"/>
          <a:stretch/>
        </p:blipFill>
        <p:spPr>
          <a:xfrm>
            <a:off x="1147100" y="3216975"/>
            <a:ext cx="871075" cy="4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Deriving the Black-Scholes PDE</a:t>
            </a:r>
            <a:endParaRPr/>
          </a:p>
        </p:txBody>
      </p:sp>
      <p:sp>
        <p:nvSpPr>
          <p:cNvPr id="192" name="Google Shape;192;p24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Assume                          is the option price.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Apply Itô’s f</a:t>
            </a:r>
            <a:r>
              <a:rPr lang="en"/>
              <a:t>ormula</a:t>
            </a:r>
            <a:r>
              <a:rPr lang="en"/>
              <a:t>, as follows: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replicating portfolio also satisfies the following: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Then, we match terms → eliminate                → get the resulting PDE:</a:t>
            </a:r>
            <a:endParaRPr/>
          </a:p>
        </p:txBody>
      </p:sp>
      <p:pic>
        <p:nvPicPr>
          <p:cNvPr id="193" name="Google Shape;193;p24" title="Screenshot 2025-05-01 at 11.27.2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375" y="1369975"/>
            <a:ext cx="759150" cy="3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title="Screenshot 2025-05-01 at 11.27.5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138" y="2207350"/>
            <a:ext cx="4935733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 title="Screenshot 2025-05-01 at 11.28.1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2063" y="3305588"/>
            <a:ext cx="2439882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 title="Screenshot 2025-05-01 at 11.28.40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1100" y="3916300"/>
            <a:ext cx="514115" cy="3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 title="Screenshot 2025-05-01 at 11.29.07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44689" y="4403825"/>
            <a:ext cx="4054625" cy="5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the PDE: Black-Scholes Formula</a:t>
            </a:r>
            <a:endParaRPr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729450" y="1337300"/>
            <a:ext cx="76887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to the PDE for a European call option is as follows: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here: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that                  refers to the cumulative distribution function of the standard normal distribution.</a:t>
            </a:r>
            <a:endParaRPr/>
          </a:p>
        </p:txBody>
      </p:sp>
      <p:pic>
        <p:nvPicPr>
          <p:cNvPr id="204" name="Google Shape;204;p25" title="Screenshot 2025-05-01 at 11.31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2887" y="1822900"/>
            <a:ext cx="3701829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 title="Screenshot 2025-05-01 at 11.32.0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625" y="2971975"/>
            <a:ext cx="5112749" cy="67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 title="Screenshot 2025-05-01 at 11.33.22 AM.png"/>
          <p:cNvPicPr preferRelativeResize="0"/>
          <p:nvPr/>
        </p:nvPicPr>
        <p:blipFill rotWithShape="1">
          <a:blip r:embed="rId5">
            <a:alphaModFix/>
          </a:blip>
          <a:srcRect b="14048" l="9558" r="10785" t="10786"/>
          <a:stretch/>
        </p:blipFill>
        <p:spPr>
          <a:xfrm>
            <a:off x="1540800" y="4043425"/>
            <a:ext cx="474825" cy="336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Itô Calculus Matters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729450" y="1337300"/>
            <a:ext cx="7688700" cy="3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we just saw, Itô calculus enabled: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Rigorous integration with Brownian motion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Construction and solution of SDEs for asset prices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Derivation of the Black-Scholes PDE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Risk-neutral pricing through martingale methods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Itô calculus connects randomness, differential equations, and no-arbitrage pricing.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727650" y="1347850"/>
            <a:ext cx="7688700" cy="3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recap: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Brownian motion → Itô integral → SDEs → Itô’s formula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Derived Black-Scholes PDE and solved it using replication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Showed how randomness and pricing are unified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main t</a:t>
            </a:r>
            <a:r>
              <a:rPr lang="en"/>
              <a:t>akeaway: </a:t>
            </a:r>
            <a:r>
              <a:rPr b="1" lang="en"/>
              <a:t>Itô calculus makes modern derivative pricing both possible and precise.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Thank you!</a:t>
            </a:r>
            <a:endParaRPr b="1" sz="3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5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50"/>
              <a:t>Shoutout to my mentor Keyuan, and thank you to the Penn DRP!</a:t>
            </a:r>
            <a:endParaRPr b="1" sz="24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title"/>
          </p:nvPr>
        </p:nvSpPr>
        <p:spPr>
          <a:xfrm>
            <a:off x="727650" y="557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729450" y="1337300"/>
            <a:ext cx="7551600" cy="3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Steele, </a:t>
            </a:r>
            <a:r>
              <a:rPr lang="en"/>
              <a:t>J. Michael. </a:t>
            </a:r>
            <a:r>
              <a:rPr i="1" lang="en"/>
              <a:t>Stochastic Calculus and Financial Applications</a:t>
            </a:r>
            <a:r>
              <a:rPr lang="en"/>
              <a:t>. Springer, 2010. Stochastic Modelling and Applied Probability.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Shreve, Steven E. </a:t>
            </a:r>
            <a:r>
              <a:rPr i="1" lang="en"/>
              <a:t>Stochastic Calculus for Finance II: Continuous-Time Models</a:t>
            </a:r>
            <a:r>
              <a:rPr lang="en"/>
              <a:t>. Springer, 2004. Springer Finance.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